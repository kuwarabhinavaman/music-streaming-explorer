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505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://localhost:505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 i="0">
                <a:solidFill>
                  <a:srgbClr val="174A73"/>
                </a:solidFill>
                <a:latin typeface="Segoe UI"/>
              </a:defRPr>
            </a:pPr>
            <a:r>
              <a:t>Music Streaming Dataset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Understanding the Drivers of Track Popularity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0" i="0">
                <a:solidFill>
                  <a:srgbClr val="6B7280"/>
                </a:solidFill>
                <a:latin typeface="Segoe UI"/>
              </a:defRPr>
            </a:pPr>
            <a:r>
              <a:t>Data Analyst Assessment  |  Tech Round 2</a:t>
            </a:r>
          </a:p>
        </p:txBody>
      </p:sp>
      <p:sp>
        <p:nvSpPr>
          <p:cNvPr id="7" name="Rectangle 6">
            <a:hlinkClick r:id="rId2"/>
          </p:cNvPr>
          <p:cNvSpPr/>
          <p:nvPr/>
        </p:nvSpPr>
        <p:spPr>
          <a:xfrm>
            <a:off x="3931920" y="5166360"/>
            <a:ext cx="4297680" cy="502920"/>
          </a:xfrm>
          <a:prstGeom prst="rect">
            <a:avLst/>
          </a:prstGeom>
          <a:solidFill>
            <a:srgbClr val="EAF4FA"/>
          </a:solidFill>
          <a:ln w="12700">
            <a:solidFill>
              <a:srgbClr val="17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5191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769AA"/>
                </a:solidFill>
                <a:latin typeface="Segoe UI"/>
                <a:hlinkClick r:id="rId2"/>
              </a:rPr>
              <a:t>💬 Launch Interactive Data Explorer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 i="1">
                <a:solidFill>
                  <a:srgbClr val="27343D"/>
                </a:solidFill>
                <a:latin typeface="Segoe UI"/>
              </a:defRPr>
            </a:pPr>
            <a:r>
              <a:t>Artist context matters more than energy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128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Energy shows little to no overall association with popularity.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Across 9,637 tracks, there is no consistent relationship between energy level and popularity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387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The energy–popularity relationship changes substantially across genres.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31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In some genres (e.g. j-pop, k-pop), higher energy is associated with higher popularity. In others (e.g. emo, garage), the opposite pattern appears.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69A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646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7343D"/>
                </a:solidFill>
                <a:latin typeface="Segoe UI"/>
              </a:defRPr>
            </a:pPr>
            <a:r>
              <a:t>Superstar tracks show no meaningful regional concentration.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257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Superstar-tier artists are distributed proportionally across all five market regions.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 i="1">
                <a:solidFill>
                  <a:srgbClr val="6B7280"/>
                </a:solidFill>
                <a:latin typeface="Segoe UI"/>
              </a:defRPr>
            </a:pPr>
            <a:r>
              <a:t>Overall confidence: Moderate to High  |  Based on cleaned dataset of 10,058 tracks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Data Quality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solidFill>
            <a:srgbClr val="EAF4FA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What We Did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74A73"/>
                </a:solidFill>
                <a:latin typeface="Segoe UI"/>
              </a:defRPr>
            </a:pPr>
            <a: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3736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Inconsistent category casing</a:t>
            </a:r>
            <a:br/>
            <a:r>
              <a:t>(e.g. 'Europe' vs 'EUROPE')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Standardised all category names</a:t>
            </a:r>
            <a:br/>
            <a:r>
              <a:t>to consistent title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8105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Prevented the same group being</a:t>
            </a:r>
            <a:br/>
            <a:r>
              <a:t>counted as two separate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51460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250 non-numeric release years</a:t>
            </a:r>
            <a:br/>
            <a:r>
              <a:t>(e.g. 'late 90s', 'unknown')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Treated as missing for</a:t>
            </a:r>
            <a:br/>
            <a:r>
              <a:t>year-based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877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Avoided inventing dates that</a:t>
            </a:r>
            <a:br/>
            <a:r>
              <a:t>would distort temporal patterns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29184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74 exact duplicate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Removed exact duplicates;</a:t>
            </a:r>
            <a:br/>
            <a:r>
              <a:t>kept context-different entries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364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Same row appearing twice adds</a:t>
            </a:r>
            <a:br/>
            <a:r>
              <a:t>no information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4069080"/>
            <a:ext cx="3474720" cy="777240"/>
          </a:xfrm>
          <a:prstGeom prst="rect">
            <a:avLst/>
          </a:prstGeom>
          <a:solidFill>
            <a:srgbClr val="F5F9FC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20 invalid popularity values</a:t>
            </a:r>
            <a:br/>
            <a:r>
              <a:t>(negative or above 100)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Set to 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422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Values outside documented</a:t>
            </a:r>
            <a:br/>
            <a:r>
              <a:t>0–100 range are unreliable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846320"/>
            <a:ext cx="3474720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4 negative track durations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27343D"/>
                </a:solidFill>
                <a:latin typeface="Segoe UI"/>
              </a:defRPr>
            </a:pPr>
            <a:r>
              <a:t>Set to missing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91947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Physical impossibility indicates</a:t>
            </a:r>
            <a:br/>
            <a:r>
              <a:t>data-entry 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 i="1">
                <a:solidFill>
                  <a:srgbClr val="6B7280"/>
                </a:solidFill>
                <a:latin typeface="Segoe UI"/>
              </a:defRPr>
            </a:pPr>
            <a:r>
              <a:t>Cleaned dataset: 10,058 rows  |  9,637 with valid popularity scores  |  Every exclusion has a documented rationale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How the Analysis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376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376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76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10,132 tracks</a:t>
            </a:r>
            <a:br/>
            <a:r>
              <a:t>across 114 genres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828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260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260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260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976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Standardise categories</a:t>
            </a:r>
            <a:br/>
            <a:r>
              <a:t>and remove clear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144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144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60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Popularity score</a:t>
            </a:r>
            <a:br/>
            <a:r>
              <a:t>(0–100 scale)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596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028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028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028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44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Energy/popularity</a:t>
            </a:r>
            <a:br/>
            <a:r>
              <a:t>+ regional Superstar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4807" y="2423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 i="0">
                <a:solidFill>
                  <a:srgbClr val="176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9127" y="1828800"/>
            <a:ext cx="1828800" cy="1645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9127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 i="0">
                <a:solidFill>
                  <a:srgbClr val="1769AA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9127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 i="0">
                <a:solidFill>
                  <a:srgbClr val="174A73"/>
                </a:solidFill>
                <a:latin typeface="Segoe UI"/>
              </a:defRPr>
            </a:pPr>
            <a:r>
              <a:t>Interpret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6287" y="2606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6B7280"/>
                </a:solidFill>
                <a:latin typeface="Segoe UI"/>
              </a:defRPr>
            </a:pPr>
            <a:r>
              <a:t>Strength of evidence</a:t>
            </a:r>
            <a:br/>
            <a:r>
              <a:t>+ limitations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4114800"/>
            <a:ext cx="9418320" cy="502920"/>
          </a:xfrm>
          <a:prstGeom prst="rect">
            <a:avLst/>
          </a:prstGeom>
          <a:solidFill>
            <a:srgbClr val="F8EDF4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41879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50" b="0" i="1">
                <a:solidFill>
                  <a:srgbClr val="27343D"/>
                </a:solidFill>
                <a:latin typeface="Segoe UI"/>
              </a:defRPr>
            </a:pPr>
            <a:r>
              <a:t>Important:  Association does not mean causation. All findings in this analysis describe observed relationships, not proven causes.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Hypotheses Tested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H1:  Does energy relate to popularity? Does this vary by genre?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H2:  Are Superstar artists concentrated in particular regions?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Energy has little to no overall association with popularity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1_energy_pop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280160"/>
            <a:ext cx="4114800" cy="274320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Evidence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Correlation:  r ≈ 0  (r = 0.0109)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p-value:  0.285  (not significant)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Sample:  9,637 tracks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200" b="1" i="0">
                <a:solidFill>
                  <a:srgbClr val="174A73"/>
                </a:solidFill>
                <a:latin typeface="Segoe UI"/>
              </a:defRPr>
            </a:pPr>
            <a:r>
              <a:t>Interpretation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Higher energy does not consistently correspond to higher popularity.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4206240"/>
            <a:ext cx="4114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4251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1">
                <a:solidFill>
                  <a:srgbClr val="6B7280"/>
                </a:solidFill>
                <a:latin typeface="Segoe UI"/>
              </a:defRPr>
            </a:pPr>
            <a:r>
              <a:t>The relationship is neither statistically significant nor practically meaningful.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Mean popularity is remarkably flat across all energy levels (~26–35). Low-energy and high-energy tracks achieve similar popularity scores. However, the story changes when we look within individual genres.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Correlation measures the strength of association between two variables; it does not imply that one causes the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The overall result changes when we look within genres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1_genre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49440" y="1188720"/>
            <a:ext cx="4754880" cy="39319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280160"/>
            <a:ext cx="4297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What the data shows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Some genres show a positive relationship between energy and popularity, while others show the opposite.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1769AA"/>
                </a:solidFill>
                <a:latin typeface="Segoe UI"/>
              </a:defRPr>
            </a:pPr>
            <a:r>
              <a:t>Higher energy → higher popularity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j-pop  (r = +0.392)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k-pop  (r = +0.387)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swedish  (r = +0.383)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new-age  (r = +0.347)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B83A7A"/>
                </a:solidFill>
                <a:latin typeface="Segoe UI"/>
              </a:defRPr>
            </a:pPr>
            <a:r>
              <a:t>Higher energy → lower popularity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study  (r = -0.291)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garage  (r = -0.302)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iranian  (r = -0.304)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  emo  (r = -0.404)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24 of 114 genres show nominally significant correlations (p &lt; 0.05); results are exploratory due to multiple testing. Genre context appears to be essential — the relationship between energy and popularity depends on the musical setting.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Exploratory analysis: testing 114 genres increases the chance of false positives. Individual genre results should be interpreted with caution.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174A73"/>
                </a:solidFill>
                <a:latin typeface="Segoe UI"/>
              </a:defRPr>
            </a:pPr>
            <a:r>
              <a:t>Superstar tracks are broadly proportional across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2_superstar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943600" cy="3017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280160"/>
            <a:ext cx="5029200" cy="301752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3716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Evidence</a:t>
            </a:r>
          </a:p>
          <a:p>
            <a:pPr algn="l">
              <a:spcAft>
                <a:spcPts val="300"/>
              </a:spcAft>
              <a:defRPr sz="5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Range across regions:  3.9% – 5.3%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p-value:  0.785  (not significant)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Effect size:  Cramer’s V = 0.0168  (negligible)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7343D"/>
                </a:solidFill>
                <a:latin typeface="Segoe UI"/>
              </a:defRPr>
            </a:pPr>
            <a:r>
              <a:t>Sample:  9,436 tracks</a:t>
            </a:r>
          </a:p>
          <a:p>
            <a:pPr algn="l">
              <a:spcAft>
                <a:spcPts val="300"/>
              </a:spcAft>
              <a:defRPr sz="6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200" b="1" i="0">
                <a:solidFill>
                  <a:srgbClr val="174A73"/>
                </a:solidFill>
                <a:latin typeface="Segoe UI"/>
              </a:defRPr>
            </a:pPr>
            <a:r>
              <a:t>Interpretation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The regional differences are small and consistent with random variation.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B7280"/>
                </a:solidFill>
                <a:latin typeface="Segoe UI"/>
              </a:defRPr>
            </a:pPr>
            <a:r>
              <a:t>No evidence of regional concentration.  Superstar-tier artists appear across all five market regions at similar rates. The slight variation (3.9%–5.3%) is well within what we would expect from chance.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950" b="0" i="1">
                <a:solidFill>
                  <a:srgbClr val="6B7280"/>
                </a:solidFill>
                <a:latin typeface="Segoe UI"/>
              </a:defRPr>
            </a:pPr>
            <a:r>
              <a:t>Note: Middle East &amp; Africa has a smaller sample (588 tracks), which increases uncertainty for that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 i="1">
                <a:solidFill>
                  <a:srgbClr val="6B7280"/>
                </a:solidFill>
                <a:latin typeface="Segoe UI"/>
              </a:defRPr>
            </a:pPr>
            <a:r>
              <a:t>Sample: 9,436 tracks with complete popularity, market region, and artist tier data (622 tracks excluded due to missing values).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74A73"/>
                </a:solidFill>
                <a:latin typeface="Segoe UI"/>
              </a:defRPr>
            </a:pPr>
            <a:r>
              <a:t>Conclusions, Confidence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645920" cy="25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4688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What the Data Suggests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Artist tier shows the strongest observed association</a:t>
            </a:r>
            <a:br/>
            <a:r>
              <a:t>   among the variables examined (Superstar: 76.1 vs Emerging: 11.9).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Energy alone has little overall association</a:t>
            </a:r>
            <a:br/>
            <a:r>
              <a:t>   with popularity.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Genre context changes the energy–popularity</a:t>
            </a:r>
            <a:br/>
            <a:r>
              <a:t>   relationship.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7343D"/>
                </a:solidFill>
                <a:latin typeface="Segoe UI"/>
              </a:defRPr>
            </a:pPr>
            <a:r>
              <a:t>•  Superstar tracks show no meaningful</a:t>
            </a:r>
            <a:br/>
            <a:r>
              <a:t>   regional concentration.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280160"/>
            <a:ext cx="5486400" cy="2468880"/>
          </a:xfrm>
          <a:prstGeom prst="rect">
            <a:avLst/>
          </a:prstGeom>
          <a:solidFill>
            <a:srgbClr val="F5F9FC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74A73"/>
                </a:solidFill>
                <a:latin typeface="Segoe UI"/>
              </a:defRPr>
            </a:pPr>
            <a:r>
              <a:t>How Confident Are We?</a:t>
            </a:r>
          </a:p>
          <a:p>
            <a:pPr algn="l">
              <a:spcAft>
                <a:spcPts val="300"/>
              </a:spcAft>
              <a:defRPr sz="4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H1 overall (energy – popularity):  HIGH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Large sample, clear null result.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H1 genre variation:  MODERATE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Meaningful pattern, but ~80–90 tracks per genre</a:t>
            </a:r>
            <a:br/>
            <a:r>
              <a:t>  and multiple testing risk.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100" b="1" i="0">
                <a:solidFill>
                  <a:srgbClr val="27343D"/>
                </a:solidFill>
                <a:latin typeface="Segoe UI"/>
              </a:defRPr>
            </a:pPr>
            <a:r>
              <a:t>H2 regional distribution:  HIGH</a:t>
            </a:r>
          </a:p>
          <a:p>
            <a:pPr algn="l">
              <a:spcAft>
                <a:spcPts val="300"/>
              </a:spcAft>
              <a:defRPr sz="950" b="0" i="0">
                <a:solidFill>
                  <a:srgbClr val="6B7280"/>
                </a:solidFill>
                <a:latin typeface="Segoe UI"/>
              </a:defRPr>
            </a:pPr>
            <a:r>
              <a:t>  Large sample, p = 0.785, negligible effect size.</a:t>
            </a:r>
          </a:p>
        </p:txBody>
      </p:sp>
      <p:pic>
        <p:nvPicPr>
          <p:cNvPr id="8" name="Picture 7" descr="popularity_by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360"/>
            <a:ext cx="5029200" cy="2560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0" y="4023360"/>
            <a:ext cx="5486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B83A7A"/>
                </a:solidFill>
                <a:latin typeface="Segoe UI"/>
              </a:defRPr>
            </a:pPr>
            <a:r>
              <a:t>What We Cannot Claim</a:t>
            </a:r>
          </a:p>
          <a:p>
            <a:pPr algn="l">
              <a:spcAft>
                <a:spcPts val="300"/>
              </a:spcAft>
              <a:defRPr sz="300" b="0" i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We cannot establish causation from this data.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Popularity is observational and snapshot-based.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Genre, platform and playlist context may</a:t>
            </a:r>
            <a:br/>
            <a:r>
              <a:t>   independently influence results.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7343D"/>
                </a:solidFill>
                <a:latin typeface="Segoe UI"/>
              </a:defRPr>
            </a:pPr>
            <a:r>
              <a:t>•  Multiple genre tests require caution when</a:t>
            </a:r>
            <a:br/>
            <a:r>
              <a:t>   interpreting individual correlations.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669280"/>
            <a:ext cx="5486400" cy="502920"/>
          </a:xfrm>
          <a:prstGeom prst="rect">
            <a:avLst/>
          </a:prstGeom>
          <a:solidFill>
            <a:srgbClr val="F8EDF4"/>
          </a:solidFill>
          <a:ln w="6350">
            <a:solidFill>
              <a:srgbClr val="DC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715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50" b="0" i="1">
                <a:solidFill>
                  <a:srgbClr val="27343D"/>
                </a:solidFill>
                <a:latin typeface="Segoe UI"/>
              </a:defRPr>
            </a:pPr>
            <a:r>
              <a:t>The dataset suggests that artist-level context is more strongly associated with popularity than energy alone.</a:t>
            </a:r>
          </a:p>
        </p:txBody>
      </p:sp>
      <p:sp>
        <p:nvSpPr>
          <p:cNvPr id="13" name="Rectangle 12">
            <a:hlinkClick r:id="rId3"/>
          </p:cNvPr>
          <p:cNvSpPr/>
          <p:nvPr/>
        </p:nvSpPr>
        <p:spPr>
          <a:xfrm>
            <a:off x="5943600" y="6236208"/>
            <a:ext cx="5486400" cy="438912"/>
          </a:xfrm>
          <a:prstGeom prst="rect">
            <a:avLst/>
          </a:prstGeom>
          <a:solidFill>
            <a:srgbClr val="EAF4FA"/>
          </a:solidFill>
          <a:ln w="12700">
            <a:solidFill>
              <a:srgbClr val="17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626160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769AA"/>
                </a:solidFill>
                <a:latin typeface="Segoe UI"/>
                <a:hlinkClick r:id="rId3"/>
              </a:rPr>
              <a:t>💬 Interactive Chatbot Companion — Query 10,058 Rows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